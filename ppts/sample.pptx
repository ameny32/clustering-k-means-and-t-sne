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hF2DiOw8899HFFsag8F5MUoV+g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Google Shape;12;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Google Shape;1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23" name="Shape 23"/>
        <p:cNvGrpSpPr/>
        <p:nvPr/>
      </p:nvGrpSpPr>
      <p:grpSpPr>
        <a:xfrm>
          <a:off x="0" y="0"/>
          <a:ext cx="0" cy="0"/>
          <a:chOff x="0" y="0"/>
          <a:chExt cx="0" cy="0"/>
        </a:xfrm>
      </p:grpSpPr>
      <p:sp>
        <p:nvSpPr>
          <p:cNvPr id="24" name="Google Shape;24;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8" name="Shape 28"/>
        <p:cNvGrpSpPr/>
        <p:nvPr/>
      </p:nvGrpSpPr>
      <p:grpSpPr>
        <a:xfrm>
          <a:off x="0" y="0"/>
          <a:ext cx="0" cy="0"/>
          <a:chOff x="0" y="0"/>
          <a:chExt cx="0" cy="0"/>
        </a:xfrm>
      </p:grpSpPr>
      <p:sp>
        <p:nvSpPr>
          <p:cNvPr id="29" name="Google Shape;29;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34" name="Shape 34"/>
        <p:cNvGrpSpPr/>
        <p:nvPr/>
      </p:nvGrpSpPr>
      <p:grpSpPr>
        <a:xfrm>
          <a:off x="0" y="0"/>
          <a:ext cx="0" cy="0"/>
          <a:chOff x="0" y="0"/>
          <a:chExt cx="0" cy="0"/>
        </a:xfrm>
      </p:grpSpPr>
      <p:sp>
        <p:nvSpPr>
          <p:cNvPr id="35" name="Google Shape;35;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41" name="Shape 41"/>
        <p:cNvGrpSpPr/>
        <p:nvPr/>
      </p:nvGrpSpPr>
      <p:grpSpPr>
        <a:xfrm>
          <a:off x="0" y="0"/>
          <a:ext cx="0" cy="0"/>
          <a:chOff x="0" y="0"/>
          <a:chExt cx="0" cy="0"/>
        </a:xfrm>
      </p:grpSpPr>
      <p:sp>
        <p:nvSpPr>
          <p:cNvPr id="42" name="Google Shape;42;p2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Google Shape;5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6"/>
          <p:cNvSpPr/>
          <p:nvPr>
            <p:ph idx="2" type="pic"/>
          </p:nvPr>
        </p:nvSpPr>
        <p:spPr>
          <a:xfrm>
            <a:off x="5183188" y="987425"/>
            <a:ext cx="6172200" cy="4873625"/>
          </a:xfrm>
          <a:prstGeom prst="rect">
            <a:avLst/>
          </a:prstGeom>
          <a:noFill/>
          <a:ln>
            <a:noFill/>
          </a:ln>
        </p:spPr>
      </p:sp>
      <p:sp>
        <p:nvSpPr>
          <p:cNvPr id="64" name="Google Shape;64;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ogb.stanford.edu/docs/nodeprop/#ogbn-papers100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github.com/endlesstory0428/Graph-Citi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doi.org/10.1109/MCG.2022.3172650" TargetMode="External"/><Relationship Id="rId4" Type="http://schemas.openxmlformats.org/officeDocument/2006/relationships/hyperlink" Target="https://doi.org/10.1038/s41586-020-2649-2" TargetMode="External"/><Relationship Id="rId5" Type="http://schemas.openxmlformats.org/officeDocument/2006/relationships/hyperlink" Target="https://doi.org/10.1038/s41592-019-0686-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829538"/>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Calibri"/>
              <a:buNone/>
            </a:pPr>
            <a:r>
              <a:rPr lang="en-US" sz="4800"/>
              <a:t>CS 439 25F </a:t>
            </a:r>
            <a:endParaRPr sz="4800"/>
          </a:p>
          <a:p>
            <a:pPr indent="0" lvl="0" marL="0" rtl="0" algn="ctr">
              <a:lnSpc>
                <a:spcPct val="90000"/>
              </a:lnSpc>
              <a:spcBef>
                <a:spcPts val="0"/>
              </a:spcBef>
              <a:spcAft>
                <a:spcPts val="0"/>
              </a:spcAft>
              <a:buClr>
                <a:schemeClr val="dk1"/>
              </a:buClr>
              <a:buSzPts val="4800"/>
              <a:buFont typeface="Calibri"/>
              <a:buNone/>
            </a:pPr>
            <a:r>
              <a:rPr lang="en-US" sz="4800"/>
              <a:t>Clustering: k-Means and t-SNE</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lnSpcReduction="20000"/>
          </a:bodyPr>
          <a:lstStyle/>
          <a:p>
            <a:pPr indent="0" lvl="0" marL="0" rtl="0" algn="ctr">
              <a:lnSpc>
                <a:spcPct val="90000"/>
              </a:lnSpc>
              <a:spcBef>
                <a:spcPts val="0"/>
              </a:spcBef>
              <a:spcAft>
                <a:spcPts val="0"/>
              </a:spcAft>
              <a:buClr>
                <a:schemeClr val="dk1"/>
              </a:buClr>
              <a:buSzPts val="2400"/>
              <a:buNone/>
            </a:pPr>
            <a:r>
              <a:rPr lang="en-US" sz="3000"/>
              <a:t>Group 24</a:t>
            </a:r>
            <a:endParaRPr sz="3000"/>
          </a:p>
          <a:p>
            <a:pPr indent="0" lvl="0" marL="0" rtl="0" algn="ctr">
              <a:lnSpc>
                <a:spcPct val="90000"/>
              </a:lnSpc>
              <a:spcBef>
                <a:spcPts val="1000"/>
              </a:spcBef>
              <a:spcAft>
                <a:spcPts val="0"/>
              </a:spcAft>
              <a:buClr>
                <a:schemeClr val="dk1"/>
              </a:buClr>
              <a:buSzPts val="2400"/>
              <a:buNone/>
            </a:pPr>
            <a:r>
              <a:rPr lang="en-US"/>
              <a:t>Andrew Menyhert [amm926]</a:t>
            </a:r>
            <a:endParaRPr/>
          </a:p>
          <a:p>
            <a:pPr indent="0" lvl="0" marL="0" rtl="0" algn="ctr">
              <a:lnSpc>
                <a:spcPct val="90000"/>
              </a:lnSpc>
              <a:spcBef>
                <a:spcPts val="1000"/>
              </a:spcBef>
              <a:spcAft>
                <a:spcPts val="0"/>
              </a:spcAft>
              <a:buClr>
                <a:schemeClr val="dk1"/>
              </a:buClr>
              <a:buSzPts val="2400"/>
              <a:buNone/>
            </a:pPr>
            <a:r>
              <a:rPr lang="en-US"/>
              <a:t>Rida Mohammad [rm1724]</a:t>
            </a:r>
            <a:endParaRPr/>
          </a:p>
          <a:p>
            <a:pPr indent="0" lvl="0" marL="0" rtl="0" algn="ctr">
              <a:lnSpc>
                <a:spcPct val="90000"/>
              </a:lnSpc>
              <a:spcBef>
                <a:spcPts val="1000"/>
              </a:spcBef>
              <a:spcAft>
                <a:spcPts val="0"/>
              </a:spcAft>
              <a:buClr>
                <a:schemeClr val="dk1"/>
              </a:buClr>
              <a:buSzPts val="2400"/>
              <a:buNone/>
            </a:pPr>
            <a:r>
              <a:rPr lang="en-US"/>
              <a:t>Kaushik Murali [km1526]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Project Description</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This project investigates the label summaries in a Graph City of Paper Citation Network, where each building is a fixed point of degree peeling.</a:t>
            </a:r>
            <a:endParaRPr/>
          </a:p>
          <a:p>
            <a:pPr indent="-228600" lvl="0" marL="228600" rtl="0" algn="l">
              <a:lnSpc>
                <a:spcPct val="90000"/>
              </a:lnSpc>
              <a:spcBef>
                <a:spcPts val="1000"/>
              </a:spcBef>
              <a:spcAft>
                <a:spcPts val="0"/>
              </a:spcAft>
              <a:buClr>
                <a:schemeClr val="dk1"/>
              </a:buClr>
              <a:buSzPct val="100000"/>
              <a:buChar char="•"/>
            </a:pPr>
            <a:r>
              <a:rPr lang="en-US"/>
              <a:t>It identifies salient labels within each fixed point using measures such as TF-IDF and examines their correlations with fixed point peel values and sizes (within a logarithmic factor). The project further explores whether these relationships enable predicting a paper’s most probable building association based on the set of words in its title and abstract using Naïve Bayes classification. </a:t>
            </a:r>
            <a:endParaRPr/>
          </a:p>
          <a:p>
            <a:pPr indent="-228600" lvl="0" marL="228600" rtl="0" algn="l">
              <a:lnSpc>
                <a:spcPct val="90000"/>
              </a:lnSpc>
              <a:spcBef>
                <a:spcPts val="1000"/>
              </a:spcBef>
              <a:spcAft>
                <a:spcPts val="0"/>
              </a:spcAft>
              <a:buClr>
                <a:schemeClr val="dk1"/>
              </a:buClr>
              <a:buSzPct val="100000"/>
              <a:buChar char="•"/>
            </a:pPr>
            <a:r>
              <a:rPr lang="en-US"/>
              <a:t>Finally, by representing each fixed point as a meta-node, the project evaluates their topological importance through PageRank, presenting an overall ranking on important labels.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Dataset Description and Sample Snapshots</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rgbClr val="FF0000"/>
              </a:buClr>
              <a:buSzPct val="100000"/>
              <a:buChar char="•"/>
            </a:pPr>
            <a:r>
              <a:rPr b="1" lang="en-US">
                <a:solidFill>
                  <a:srgbClr val="FF0000"/>
                </a:solidFill>
              </a:rPr>
              <a:t>Please note the following dataset size requirement for your project:</a:t>
            </a:r>
            <a:endParaRPr/>
          </a:p>
          <a:p>
            <a:pPr indent="-228600" lvl="1" marL="685800" rtl="0" algn="l">
              <a:lnSpc>
                <a:spcPct val="90000"/>
              </a:lnSpc>
              <a:spcBef>
                <a:spcPts val="500"/>
              </a:spcBef>
              <a:spcAft>
                <a:spcPts val="0"/>
              </a:spcAft>
              <a:buClr>
                <a:srgbClr val="FF0000"/>
              </a:buClr>
              <a:buSzPct val="100000"/>
              <a:buChar char="•"/>
            </a:pPr>
            <a:r>
              <a:rPr b="1" lang="en-US">
                <a:solidFill>
                  <a:srgbClr val="FF0000"/>
                </a:solidFill>
              </a:rPr>
              <a:t>For tabular datasets (DataFrames), the dataset must be at least 8 MB in size.</a:t>
            </a:r>
            <a:endParaRPr/>
          </a:p>
          <a:p>
            <a:pPr indent="-228600" lvl="2" marL="1143000" rtl="0" algn="l">
              <a:lnSpc>
                <a:spcPct val="90000"/>
              </a:lnSpc>
              <a:spcBef>
                <a:spcPts val="500"/>
              </a:spcBef>
              <a:spcAft>
                <a:spcPts val="0"/>
              </a:spcAft>
              <a:buClr>
                <a:schemeClr val="dk1"/>
              </a:buClr>
              <a:buSzPct val="100000"/>
              <a:buChar char="•"/>
            </a:pPr>
            <a:r>
              <a:rPr lang="en-US"/>
              <a:t>Example: A dataset with 100,000 records, each containing 20 features stored as 4-byte integers or floats, totals approximately 8 MB.</a:t>
            </a:r>
            <a:endParaRPr/>
          </a:p>
          <a:p>
            <a:pPr indent="-228600" lvl="2" marL="1143000" rtl="0" algn="l">
              <a:lnSpc>
                <a:spcPct val="90000"/>
              </a:lnSpc>
              <a:spcBef>
                <a:spcPts val="500"/>
              </a:spcBef>
              <a:spcAft>
                <a:spcPts val="0"/>
              </a:spcAft>
              <a:buClr>
                <a:schemeClr val="dk1"/>
              </a:buClr>
              <a:buSzPct val="100000"/>
              <a:buChar char="•"/>
            </a:pPr>
            <a:r>
              <a:rPr lang="en-US"/>
              <a:t>If your dataset is smaller than 8 MB, you may consider augmenting it by adding additional data or derived features (e.g., polynomial features such as squares or interaction terms).</a:t>
            </a:r>
            <a:endParaRPr/>
          </a:p>
          <a:p>
            <a:pPr indent="-228600" lvl="1" marL="685800" rtl="0" algn="l">
              <a:lnSpc>
                <a:spcPct val="90000"/>
              </a:lnSpc>
              <a:spcBef>
                <a:spcPts val="500"/>
              </a:spcBef>
              <a:spcAft>
                <a:spcPts val="0"/>
              </a:spcAft>
              <a:buClr>
                <a:srgbClr val="FF0000"/>
              </a:buClr>
              <a:buSzPct val="100000"/>
              <a:buChar char="•"/>
            </a:pPr>
            <a:r>
              <a:rPr b="1" lang="en-US">
                <a:solidFill>
                  <a:srgbClr val="FF0000"/>
                </a:solidFill>
              </a:rPr>
              <a:t>For image datasets</a:t>
            </a:r>
            <a:r>
              <a:rPr lang="en-US"/>
              <a:t>, we consider a typical 32 × 32 pixel image with four RGBA channels (4 Bytes per pixel), roughly 4 KB. To meet the 8 MB minimum requirement, </a:t>
            </a:r>
            <a:r>
              <a:rPr b="1" lang="en-US">
                <a:solidFill>
                  <a:srgbClr val="FF0000"/>
                </a:solidFill>
              </a:rPr>
              <a:t>you will need at least 2,000 such images.</a:t>
            </a:r>
            <a:endParaRPr/>
          </a:p>
          <a:p>
            <a:pPr indent="-7747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Bonus Policy:</a:t>
            </a:r>
            <a:endParaRPr/>
          </a:p>
          <a:p>
            <a:pPr indent="-228600" lvl="1" marL="685800" rtl="0" algn="l">
              <a:lnSpc>
                <a:spcPct val="90000"/>
              </a:lnSpc>
              <a:spcBef>
                <a:spcPts val="500"/>
              </a:spcBef>
              <a:spcAft>
                <a:spcPts val="0"/>
              </a:spcAft>
              <a:buClr>
                <a:schemeClr val="dk1"/>
              </a:buClr>
              <a:buSzPct val="100000"/>
              <a:buChar char="•"/>
            </a:pPr>
            <a:r>
              <a:rPr lang="en-US"/>
              <a:t>To incentivize the use of larger datasets, for every additional 8 MB beyond the initial 8 MB, you will receive 3 bonus points, up to a maximum of 30 bonus points.</a:t>
            </a:r>
            <a:endParaRPr/>
          </a:p>
          <a:p>
            <a:pPr indent="-7747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Please ensure your dataset meets these requirements before submission.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Dataset Description and Sample Snapshots</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Dataset Name: </a:t>
            </a:r>
            <a:r>
              <a:rPr lang="en-US" u="sng">
                <a:solidFill>
                  <a:schemeClr val="hlink"/>
                </a:solidFill>
                <a:hlinkClick r:id="rId3"/>
              </a:rPr>
              <a:t>ogbn-papers100M</a:t>
            </a:r>
            <a:endParaRPr/>
          </a:p>
          <a:p>
            <a:pPr indent="-228600" lvl="1" marL="685800" rtl="0" algn="l">
              <a:lnSpc>
                <a:spcPct val="90000"/>
              </a:lnSpc>
              <a:spcBef>
                <a:spcPts val="500"/>
              </a:spcBef>
              <a:spcAft>
                <a:spcPts val="0"/>
              </a:spcAft>
              <a:buClr>
                <a:schemeClr val="dk1"/>
              </a:buClr>
              <a:buSzPts val="2400"/>
              <a:buChar char="•"/>
            </a:pPr>
            <a:r>
              <a:rPr lang="en-US"/>
              <a:t>a directed citation graph of 111 million papers indexed by MAG</a:t>
            </a:r>
            <a:endParaRPr/>
          </a:p>
          <a:p>
            <a:pPr indent="-228600" lvl="1" marL="685800" rtl="0" algn="l">
              <a:lnSpc>
                <a:spcPct val="90000"/>
              </a:lnSpc>
              <a:spcBef>
                <a:spcPts val="500"/>
              </a:spcBef>
              <a:spcAft>
                <a:spcPts val="0"/>
              </a:spcAft>
              <a:buClr>
                <a:schemeClr val="dk1"/>
              </a:buClr>
              <a:buSzPts val="2400"/>
              <a:buChar char="•"/>
            </a:pPr>
            <a:r>
              <a:rPr lang="en-US"/>
              <a:t>Vertices: 111M papers</a:t>
            </a:r>
            <a:endParaRPr/>
          </a:p>
          <a:p>
            <a:pPr indent="-228600" lvl="1" marL="685800" rtl="0" algn="l">
              <a:lnSpc>
                <a:spcPct val="90000"/>
              </a:lnSpc>
              <a:spcBef>
                <a:spcPts val="500"/>
              </a:spcBef>
              <a:spcAft>
                <a:spcPts val="0"/>
              </a:spcAft>
              <a:buClr>
                <a:schemeClr val="dk1"/>
              </a:buClr>
              <a:buSzPts val="2400"/>
              <a:buChar char="•"/>
            </a:pPr>
            <a:r>
              <a:rPr lang="en-US"/>
              <a:t>Edges: 1.6B citations</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Snapshot of dataset format</a:t>
            </a:r>
            <a:endParaRPr/>
          </a:p>
          <a:p>
            <a:pPr indent="-228600" lvl="1" marL="685800" rtl="0" algn="l">
              <a:lnSpc>
                <a:spcPct val="90000"/>
              </a:lnSpc>
              <a:spcBef>
                <a:spcPts val="500"/>
              </a:spcBef>
              <a:spcAft>
                <a:spcPts val="0"/>
              </a:spcAft>
              <a:buClr>
                <a:schemeClr val="dk1"/>
              </a:buClr>
              <a:buSzPts val="2400"/>
              <a:buChar char="•"/>
            </a:pPr>
            <a:r>
              <a:rPr lang="en-US"/>
              <a:t>Sample plots of data statistics (deg dist, avg deg, cc sizes dist, avg cc sizes,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Questions to be Addressed</a:t>
            </a:r>
            <a:endParaRPr/>
          </a:p>
        </p:txBody>
      </p:sp>
      <p:sp>
        <p:nvSpPr>
          <p:cNvPr id="109" name="Google Shape;10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Which vertex labels are considered “salient” within a Graph City Building? (A building corresponds to what is called a fixed point of graph degree peeling.)</a:t>
            </a:r>
            <a:endParaRPr/>
          </a:p>
          <a:p>
            <a:pPr indent="-228600" lvl="0" marL="228600" rtl="0" algn="l">
              <a:lnSpc>
                <a:spcPct val="90000"/>
              </a:lnSpc>
              <a:spcBef>
                <a:spcPts val="1000"/>
              </a:spcBef>
              <a:spcAft>
                <a:spcPts val="0"/>
              </a:spcAft>
              <a:buClr>
                <a:schemeClr val="dk1"/>
              </a:buClr>
              <a:buSzPct val="100000"/>
              <a:buChar char="•"/>
            </a:pPr>
            <a:r>
              <a:rPr lang="en-US"/>
              <a:t>Do the “salient” vertex labels in each building exhibit correlations with the corresponding building peel values and/or building sizes (within a log factor)? </a:t>
            </a:r>
            <a:br>
              <a:rPr lang="en-US"/>
            </a:br>
            <a:r>
              <a:rPr lang="en-US"/>
              <a:t>If such relationships exist, is it possible to predict the most probable building association for a given paper based on the words it contains?</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Viewing each building as a meta-node, constructing an intersection graph of buildings. Which are more “relevant” to a query in terms of PageRank?</a:t>
            </a:r>
            <a:endParaRPr/>
          </a:p>
          <a:p>
            <a:pPr indent="-228600" lvl="0" marL="228600" rtl="0" algn="l">
              <a:lnSpc>
                <a:spcPct val="90000"/>
              </a:lnSpc>
              <a:spcBef>
                <a:spcPts val="1000"/>
              </a:spcBef>
              <a:spcAft>
                <a:spcPts val="0"/>
              </a:spcAft>
              <a:buClr>
                <a:schemeClr val="dk1"/>
              </a:buClr>
              <a:buSzPct val="100000"/>
              <a:buChar char="•"/>
            </a:pPr>
            <a:r>
              <a:rPr lang="en-US"/>
              <a:t>Analyze the impact of citation directions between “local vertices” in a building and between them and “shared vertices”</a:t>
            </a:r>
            <a:endParaRPr/>
          </a:p>
          <a:p>
            <a:pPr indent="-228600" lvl="0" marL="228600" rtl="0" algn="l">
              <a:lnSpc>
                <a:spcPct val="90000"/>
              </a:lnSpc>
              <a:spcBef>
                <a:spcPts val="1000"/>
              </a:spcBef>
              <a:spcAft>
                <a:spcPts val="0"/>
              </a:spcAft>
              <a:buClr>
                <a:schemeClr val="dk1"/>
              </a:buClr>
              <a:buSzPct val="100000"/>
              <a:buChar char="•"/>
            </a:pPr>
            <a:r>
              <a:rPr lang="en-US"/>
              <a:t>Based on the PageRank distribution of each building, can one construct an overall ranking of “salient” labels of the entire citation network?</a:t>
            </a:r>
            <a:endParaRPr/>
          </a:p>
          <a:p>
            <a:pPr indent="-228600" lvl="0" marL="228600" rtl="0" algn="l">
              <a:lnSpc>
                <a:spcPct val="90000"/>
              </a:lnSpc>
              <a:spcBef>
                <a:spcPts val="1000"/>
              </a:spcBef>
              <a:spcAft>
                <a:spcPts val="0"/>
              </a:spcAft>
              <a:buClr>
                <a:schemeClr val="dk1"/>
              </a:buClr>
              <a:buSzPct val="100000"/>
              <a:buChar char="•"/>
            </a:pPr>
            <a:r>
              <a:rPr lang="en-US"/>
              <a:t>Are there any other “importance” measurements, e.g., betweenness centrality, that can be used to extract topic semantics?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6"/>
          <p:cNvPicPr preferRelativeResize="0"/>
          <p:nvPr/>
        </p:nvPicPr>
        <p:blipFill rotWithShape="1">
          <a:blip r:embed="rId3">
            <a:alphaModFix/>
          </a:blip>
          <a:srcRect b="0" l="16340" r="16325" t="27236"/>
          <a:stretch/>
        </p:blipFill>
        <p:spPr>
          <a:xfrm>
            <a:off x="4114801" y="1285300"/>
            <a:ext cx="7379368" cy="5572700"/>
          </a:xfrm>
          <a:prstGeom prst="rect">
            <a:avLst/>
          </a:prstGeom>
          <a:noFill/>
          <a:ln>
            <a:noFill/>
          </a:ln>
        </p:spPr>
      </p:pic>
      <p:pic>
        <p:nvPicPr>
          <p:cNvPr id="115" name="Google Shape;115;p6"/>
          <p:cNvPicPr preferRelativeResize="0"/>
          <p:nvPr/>
        </p:nvPicPr>
        <p:blipFill rotWithShape="1">
          <a:blip r:embed="rId3">
            <a:alphaModFix/>
          </a:blip>
          <a:srcRect b="73853" l="34928" r="43822" t="0"/>
          <a:stretch/>
        </p:blipFill>
        <p:spPr>
          <a:xfrm>
            <a:off x="2225747" y="1426496"/>
            <a:ext cx="2328910" cy="2002504"/>
          </a:xfrm>
          <a:prstGeom prst="rect">
            <a:avLst/>
          </a:prstGeom>
          <a:noFill/>
          <a:ln>
            <a:noFill/>
          </a:ln>
        </p:spPr>
      </p:pic>
      <p:sp>
        <p:nvSpPr>
          <p:cNvPr id="116" name="Google Shape;116;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 Transformation Flowchart</a:t>
            </a:r>
            <a:endParaRPr/>
          </a:p>
        </p:txBody>
      </p:sp>
      <p:cxnSp>
        <p:nvCxnSpPr>
          <p:cNvPr id="117" name="Google Shape;117;p6"/>
          <p:cNvCxnSpPr/>
          <p:nvPr/>
        </p:nvCxnSpPr>
        <p:spPr>
          <a:xfrm flipH="1" rot="10800000">
            <a:off x="3390202" y="1285201"/>
            <a:ext cx="3924900" cy="2143800"/>
          </a:xfrm>
          <a:prstGeom prst="bentConnector3">
            <a:avLst>
              <a:gd fmla="val 50001" name="adj1"/>
            </a:avLst>
          </a:prstGeom>
          <a:noFill/>
          <a:ln cap="flat" cmpd="sng" w="19050">
            <a:solidFill>
              <a:schemeClr val="dk1"/>
            </a:solidFill>
            <a:prstDash val="solid"/>
            <a:miter lim="800000"/>
            <a:headEnd len="sm" w="sm"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Exploration Algorithms Used</a:t>
            </a:r>
            <a:endParaRPr/>
          </a:p>
        </p:txBody>
      </p:sp>
      <p:sp>
        <p:nvSpPr>
          <p:cNvPr id="123" name="Google Shape;12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Data Cleaning</a:t>
            </a:r>
            <a:endParaRPr/>
          </a:p>
          <a:p>
            <a:pPr indent="-228600" lvl="0" marL="228600" rtl="0" algn="l">
              <a:lnSpc>
                <a:spcPct val="90000"/>
              </a:lnSpc>
              <a:spcBef>
                <a:spcPts val="1000"/>
              </a:spcBef>
              <a:spcAft>
                <a:spcPts val="0"/>
              </a:spcAft>
              <a:buClr>
                <a:schemeClr val="dk1"/>
              </a:buClr>
              <a:buSzPts val="2800"/>
              <a:buChar char="•"/>
            </a:pPr>
            <a:r>
              <a:rPr lang="en-US"/>
              <a:t>Graph Cities Processing</a:t>
            </a:r>
            <a:endParaRPr/>
          </a:p>
          <a:p>
            <a:pPr indent="-228600" lvl="1" marL="685800" rtl="0" algn="l">
              <a:lnSpc>
                <a:spcPct val="90000"/>
              </a:lnSpc>
              <a:spcBef>
                <a:spcPts val="500"/>
              </a:spcBef>
              <a:spcAft>
                <a:spcPts val="0"/>
              </a:spcAft>
              <a:buClr>
                <a:schemeClr val="dk1"/>
              </a:buClr>
              <a:buSzPts val="2400"/>
              <a:buChar char="•"/>
            </a:pPr>
            <a:r>
              <a:rPr lang="en-US"/>
              <a:t>Vertex Peeling (k-core)</a:t>
            </a:r>
            <a:endParaRPr/>
          </a:p>
          <a:p>
            <a:pPr indent="-228600" lvl="1" marL="685800" rtl="0" algn="l">
              <a:lnSpc>
                <a:spcPct val="90000"/>
              </a:lnSpc>
              <a:spcBef>
                <a:spcPts val="500"/>
              </a:spcBef>
              <a:spcAft>
                <a:spcPts val="0"/>
              </a:spcAft>
              <a:buClr>
                <a:schemeClr val="dk1"/>
              </a:buClr>
              <a:buSzPts val="2400"/>
              <a:buChar char="•"/>
            </a:pPr>
            <a:r>
              <a:rPr lang="en-US"/>
              <a:t>Iterative Graph Edge Partition (fixed points of graph degree peeling)</a:t>
            </a:r>
            <a:endParaRPr/>
          </a:p>
          <a:p>
            <a:pPr indent="-228600" lvl="0" marL="228600" rtl="0" algn="l">
              <a:lnSpc>
                <a:spcPct val="90000"/>
              </a:lnSpc>
              <a:spcBef>
                <a:spcPts val="1000"/>
              </a:spcBef>
              <a:spcAft>
                <a:spcPts val="0"/>
              </a:spcAft>
              <a:buClr>
                <a:schemeClr val="dk1"/>
              </a:buClr>
              <a:buSzPts val="2800"/>
              <a:buChar char="•"/>
            </a:pPr>
            <a:r>
              <a:rPr lang="en-US"/>
              <a:t>Label Summarization and Prediction</a:t>
            </a:r>
            <a:endParaRPr/>
          </a:p>
          <a:p>
            <a:pPr indent="-228600" lvl="1" marL="685800" rtl="0" algn="l">
              <a:lnSpc>
                <a:spcPct val="90000"/>
              </a:lnSpc>
              <a:spcBef>
                <a:spcPts val="500"/>
              </a:spcBef>
              <a:spcAft>
                <a:spcPts val="0"/>
              </a:spcAft>
              <a:buClr>
                <a:schemeClr val="dk1"/>
              </a:buClr>
              <a:buSzPts val="2400"/>
              <a:buChar char="•"/>
            </a:pPr>
            <a:r>
              <a:rPr lang="en-US"/>
              <a:t>TF-IDF for “salient” labels appearing in each building</a:t>
            </a:r>
            <a:endParaRPr/>
          </a:p>
          <a:p>
            <a:pPr indent="-228600" lvl="1" marL="685800" rtl="0" algn="l">
              <a:lnSpc>
                <a:spcPct val="90000"/>
              </a:lnSpc>
              <a:spcBef>
                <a:spcPts val="500"/>
              </a:spcBef>
              <a:spcAft>
                <a:spcPts val="0"/>
              </a:spcAft>
              <a:buClr>
                <a:schemeClr val="dk1"/>
              </a:buClr>
              <a:buSzPts val="2400"/>
              <a:buChar char="•"/>
            </a:pPr>
            <a:r>
              <a:rPr lang="en-US"/>
              <a:t>Naïve Bayes Classifier for the prediction of the probability of a paper being associated with a building</a:t>
            </a:r>
            <a:endParaRPr/>
          </a:p>
          <a:p>
            <a:pPr indent="-228600" lvl="1" marL="685800" rtl="0" algn="l">
              <a:lnSpc>
                <a:spcPct val="90000"/>
              </a:lnSpc>
              <a:spcBef>
                <a:spcPts val="500"/>
              </a:spcBef>
              <a:spcAft>
                <a:spcPts val="0"/>
              </a:spcAft>
              <a:buClr>
                <a:schemeClr val="dk1"/>
              </a:buClr>
              <a:buSzPts val="2400"/>
              <a:buChar char="•"/>
            </a:pPr>
            <a:r>
              <a:rPr lang="en-US"/>
              <a:t>PageRank to assign a level of “importance” to the buildings in the Graph City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Computational Platform and Software Libraries Used</a:t>
            </a:r>
            <a:endParaRPr/>
          </a:p>
        </p:txBody>
      </p:sp>
      <p:sp>
        <p:nvSpPr>
          <p:cNvPr id="129" name="Google Shape;129;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Preprocessing</a:t>
            </a:r>
            <a:endParaRPr/>
          </a:p>
          <a:p>
            <a:pPr indent="-228600" lvl="1" marL="685800" rtl="0" algn="l">
              <a:lnSpc>
                <a:spcPct val="90000"/>
              </a:lnSpc>
              <a:spcBef>
                <a:spcPts val="500"/>
              </a:spcBef>
              <a:spcAft>
                <a:spcPts val="0"/>
              </a:spcAft>
              <a:buClr>
                <a:schemeClr val="dk1"/>
              </a:buClr>
              <a:buSzPts val="2400"/>
              <a:buChar char="•"/>
            </a:pPr>
            <a:r>
              <a:rPr lang="en-US"/>
              <a:t>Python: OGB, NumPy, Pandas, NetworkX, NLTK, spaCy</a:t>
            </a:r>
            <a:endParaRPr/>
          </a:p>
          <a:p>
            <a:pPr indent="-228600" lvl="0" marL="228600" rtl="0" algn="l">
              <a:lnSpc>
                <a:spcPct val="90000"/>
              </a:lnSpc>
              <a:spcBef>
                <a:spcPts val="1000"/>
              </a:spcBef>
              <a:spcAft>
                <a:spcPts val="0"/>
              </a:spcAft>
              <a:buClr>
                <a:schemeClr val="dk1"/>
              </a:buClr>
              <a:buSzPts val="2800"/>
              <a:buChar char="•"/>
            </a:pPr>
            <a:r>
              <a:rPr lang="en-US" u="sng">
                <a:solidFill>
                  <a:schemeClr val="hlink"/>
                </a:solidFill>
                <a:hlinkClick r:id="rId3"/>
              </a:rPr>
              <a:t>Graph Cities</a:t>
            </a:r>
            <a:endParaRPr/>
          </a:p>
          <a:p>
            <a:pPr indent="-228600" lvl="1" marL="685800" rtl="0" algn="l">
              <a:lnSpc>
                <a:spcPct val="90000"/>
              </a:lnSpc>
              <a:spcBef>
                <a:spcPts val="500"/>
              </a:spcBef>
              <a:spcAft>
                <a:spcPts val="0"/>
              </a:spcAft>
              <a:buClr>
                <a:schemeClr val="dk1"/>
              </a:buClr>
              <a:buSzPts val="2400"/>
              <a:buChar char="•"/>
            </a:pPr>
            <a:r>
              <a:rPr lang="en-US"/>
              <a:t>C++: The Boost Graph Library</a:t>
            </a:r>
            <a:endParaRPr/>
          </a:p>
          <a:p>
            <a:pPr indent="-228600" lvl="1" marL="685800" rtl="0" algn="l">
              <a:lnSpc>
                <a:spcPct val="90000"/>
              </a:lnSpc>
              <a:spcBef>
                <a:spcPts val="500"/>
              </a:spcBef>
              <a:spcAft>
                <a:spcPts val="0"/>
              </a:spcAft>
              <a:buClr>
                <a:schemeClr val="dk1"/>
              </a:buClr>
              <a:buSzPts val="2400"/>
              <a:buChar char="•"/>
            </a:pPr>
            <a:r>
              <a:rPr lang="en-US"/>
              <a:t>Python: NumPy, SciPy, Matplotlib, Pandas</a:t>
            </a:r>
            <a:endParaRPr/>
          </a:p>
          <a:p>
            <a:pPr indent="-228600" lvl="1" marL="685800" rtl="0" algn="l">
              <a:lnSpc>
                <a:spcPct val="90000"/>
              </a:lnSpc>
              <a:spcBef>
                <a:spcPts val="500"/>
              </a:spcBef>
              <a:spcAft>
                <a:spcPts val="0"/>
              </a:spcAft>
              <a:buClr>
                <a:schemeClr val="dk1"/>
              </a:buClr>
              <a:buSzPts val="2400"/>
              <a:buChar char="•"/>
            </a:pPr>
            <a:r>
              <a:rPr lang="en-US"/>
              <a:t>JavaScript: Node.js, Three.js, D3.js</a:t>
            </a:r>
            <a:endParaRPr/>
          </a:p>
          <a:p>
            <a:pPr indent="-228600" lvl="0" marL="228600" rtl="0" algn="l">
              <a:lnSpc>
                <a:spcPct val="90000"/>
              </a:lnSpc>
              <a:spcBef>
                <a:spcPts val="1000"/>
              </a:spcBef>
              <a:spcAft>
                <a:spcPts val="0"/>
              </a:spcAft>
              <a:buClr>
                <a:schemeClr val="dk1"/>
              </a:buClr>
              <a:buSzPts val="2800"/>
              <a:buChar char="•"/>
            </a:pPr>
            <a:r>
              <a:rPr lang="en-US"/>
              <a:t>Label Summarization and Prediction</a:t>
            </a:r>
            <a:endParaRPr/>
          </a:p>
          <a:p>
            <a:pPr indent="-228600" lvl="1" marL="685800" rtl="0" algn="l">
              <a:lnSpc>
                <a:spcPct val="90000"/>
              </a:lnSpc>
              <a:spcBef>
                <a:spcPts val="500"/>
              </a:spcBef>
              <a:spcAft>
                <a:spcPts val="0"/>
              </a:spcAft>
              <a:buClr>
                <a:schemeClr val="dk1"/>
              </a:buClr>
              <a:buSzPts val="2400"/>
              <a:buChar char="•"/>
            </a:pPr>
            <a:r>
              <a:rPr lang="en-US"/>
              <a:t>Python: NetworkX, PySpark, scikit-learn, NLTK, spaCy, wordcloud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Gantt Charts</a:t>
            </a:r>
            <a:endParaRPr/>
          </a:p>
        </p:txBody>
      </p:sp>
      <p:sp>
        <p:nvSpPr>
          <p:cNvPr id="135" name="Google Shape;135;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Visualizations</a:t>
            </a:r>
            <a:endParaRPr/>
          </a:p>
        </p:txBody>
      </p:sp>
      <p:pic>
        <p:nvPicPr>
          <p:cNvPr id="141" name="Google Shape;141;p10"/>
          <p:cNvPicPr preferRelativeResize="0"/>
          <p:nvPr>
            <p:ph idx="1" type="body"/>
          </p:nvPr>
        </p:nvPicPr>
        <p:blipFill rotWithShape="1">
          <a:blip r:embed="rId3">
            <a:alphaModFix/>
          </a:blip>
          <a:srcRect b="0" l="0" r="0" t="0"/>
          <a:stretch/>
        </p:blipFill>
        <p:spPr>
          <a:xfrm>
            <a:off x="0" y="1525989"/>
            <a:ext cx="12192000" cy="5332011"/>
          </a:xfrm>
          <a:prstGeom prst="rect">
            <a:avLst/>
          </a:prstGeom>
          <a:noFill/>
          <a:ln>
            <a:noFill/>
          </a:ln>
        </p:spPr>
      </p:pic>
      <p:sp>
        <p:nvSpPr>
          <p:cNvPr id="142" name="Google Shape;142;p10"/>
          <p:cNvSpPr txBox="1"/>
          <p:nvPr/>
        </p:nvSpPr>
        <p:spPr>
          <a:xfrm>
            <a:off x="8999621" y="6492875"/>
            <a:ext cx="32728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Calibri"/>
                <a:ea typeface="Calibri"/>
                <a:cs typeface="Calibri"/>
                <a:sym typeface="Calibri"/>
              </a:rPr>
              <a:t>Graph City for ogbn-papers100M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Visualizations</a:t>
            </a:r>
            <a:endParaRPr/>
          </a:p>
        </p:txBody>
      </p:sp>
      <p:sp>
        <p:nvSpPr>
          <p:cNvPr id="148" name="Google Shape;148;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Label Summaries as Word Clouds of selected fixed points​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2"/>
          <p:cNvSpPr/>
          <p:nvPr/>
        </p:nvSpPr>
        <p:spPr>
          <a:xfrm>
            <a:off x="432636" y="3729789"/>
            <a:ext cx="9149514" cy="28956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 name="Google Shape;15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Dash Board</a:t>
            </a:r>
            <a:endParaRPr/>
          </a:p>
        </p:txBody>
      </p:sp>
      <p:sp>
        <p:nvSpPr>
          <p:cNvPr id="155" name="Google Shape;155;p12"/>
          <p:cNvSpPr/>
          <p:nvPr/>
        </p:nvSpPr>
        <p:spPr>
          <a:xfrm>
            <a:off x="248653" y="1548063"/>
            <a:ext cx="11726779" cy="5189621"/>
          </a:xfrm>
          <a:prstGeom prst="rect">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 name="Google Shape;156;p12"/>
          <p:cNvSpPr/>
          <p:nvPr/>
        </p:nvSpPr>
        <p:spPr>
          <a:xfrm>
            <a:off x="9829800" y="1690688"/>
            <a:ext cx="1993232" cy="1780363"/>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12"/>
          <p:cNvSpPr txBox="1"/>
          <p:nvPr/>
        </p:nvSpPr>
        <p:spPr>
          <a:xfrm>
            <a:off x="9829800" y="1690688"/>
            <a:ext cx="162852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Label Summary</a:t>
            </a:r>
            <a:endParaRPr sz="1800">
              <a:solidFill>
                <a:schemeClr val="dk1"/>
              </a:solidFill>
              <a:latin typeface="Calibri"/>
              <a:ea typeface="Calibri"/>
              <a:cs typeface="Calibri"/>
              <a:sym typeface="Calibri"/>
            </a:endParaRPr>
          </a:p>
        </p:txBody>
      </p:sp>
      <p:pic>
        <p:nvPicPr>
          <p:cNvPr id="158" name="Google Shape;158;p12"/>
          <p:cNvPicPr preferRelativeResize="0"/>
          <p:nvPr/>
        </p:nvPicPr>
        <p:blipFill rotWithShape="1">
          <a:blip r:embed="rId3">
            <a:alphaModFix/>
          </a:blip>
          <a:srcRect b="0" l="0" r="0" t="0"/>
          <a:stretch/>
        </p:blipFill>
        <p:spPr>
          <a:xfrm>
            <a:off x="368968" y="1970988"/>
            <a:ext cx="9213182" cy="1500063"/>
          </a:xfrm>
          <a:prstGeom prst="rect">
            <a:avLst/>
          </a:prstGeom>
          <a:noFill/>
          <a:ln>
            <a:noFill/>
          </a:ln>
        </p:spPr>
      </p:pic>
      <p:sp>
        <p:nvSpPr>
          <p:cNvPr id="159" name="Google Shape;159;p12"/>
          <p:cNvSpPr txBox="1"/>
          <p:nvPr/>
        </p:nvSpPr>
        <p:spPr>
          <a:xfrm>
            <a:off x="432636" y="1601656"/>
            <a:ext cx="41167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Bucketized Fixed Points Grid Map Selector</a:t>
            </a:r>
            <a:endParaRPr sz="1800">
              <a:solidFill>
                <a:schemeClr val="dk1"/>
              </a:solidFill>
              <a:latin typeface="Calibri"/>
              <a:ea typeface="Calibri"/>
              <a:cs typeface="Calibri"/>
              <a:sym typeface="Calibri"/>
            </a:endParaRPr>
          </a:p>
        </p:txBody>
      </p:sp>
      <p:sp>
        <p:nvSpPr>
          <p:cNvPr id="160" name="Google Shape;160;p12"/>
          <p:cNvSpPr txBox="1"/>
          <p:nvPr/>
        </p:nvSpPr>
        <p:spPr>
          <a:xfrm>
            <a:off x="432636" y="3709310"/>
            <a:ext cx="789876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Predict the probability of a paper being associated with a building / building bucket</a:t>
            </a:r>
            <a:endParaRPr/>
          </a:p>
        </p:txBody>
      </p:sp>
      <p:sp>
        <p:nvSpPr>
          <p:cNvPr id="161" name="Google Shape;161;p12"/>
          <p:cNvSpPr/>
          <p:nvPr/>
        </p:nvSpPr>
        <p:spPr>
          <a:xfrm>
            <a:off x="529389" y="4236894"/>
            <a:ext cx="8767011" cy="417095"/>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12"/>
          <p:cNvSpPr txBox="1"/>
          <p:nvPr/>
        </p:nvSpPr>
        <p:spPr>
          <a:xfrm>
            <a:off x="598098" y="4254533"/>
            <a:ext cx="59503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Title</a:t>
            </a:r>
            <a:endParaRPr/>
          </a:p>
        </p:txBody>
      </p:sp>
      <p:sp>
        <p:nvSpPr>
          <p:cNvPr id="163" name="Google Shape;163;p12"/>
          <p:cNvSpPr/>
          <p:nvPr/>
        </p:nvSpPr>
        <p:spPr>
          <a:xfrm>
            <a:off x="529389" y="4812241"/>
            <a:ext cx="8767011" cy="1680634"/>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 name="Google Shape;164;p12"/>
          <p:cNvSpPr txBox="1"/>
          <p:nvPr/>
        </p:nvSpPr>
        <p:spPr>
          <a:xfrm>
            <a:off x="598098" y="4829880"/>
            <a:ext cx="96327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Abstract</a:t>
            </a:r>
            <a:endParaRPr/>
          </a:p>
        </p:txBody>
      </p:sp>
      <p:sp>
        <p:nvSpPr>
          <p:cNvPr id="165" name="Google Shape;165;p12"/>
          <p:cNvSpPr/>
          <p:nvPr/>
        </p:nvSpPr>
        <p:spPr>
          <a:xfrm>
            <a:off x="9829800" y="3709310"/>
            <a:ext cx="1993232" cy="28956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p12"/>
          <p:cNvSpPr txBox="1"/>
          <p:nvPr/>
        </p:nvSpPr>
        <p:spPr>
          <a:xfrm>
            <a:off x="9829801" y="3773541"/>
            <a:ext cx="192956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Papers Titles with Selected Labels</a:t>
            </a:r>
            <a:endParaRPr sz="1800">
              <a:solidFill>
                <a:schemeClr val="dk1"/>
              </a:solidFill>
              <a:latin typeface="Calibri"/>
              <a:ea typeface="Calibri"/>
              <a:cs typeface="Calibri"/>
              <a:sym typeface="Calibri"/>
            </a:endParaRPr>
          </a:p>
        </p:txBody>
      </p:sp>
      <p:cxnSp>
        <p:nvCxnSpPr>
          <p:cNvPr id="167" name="Google Shape;167;p12"/>
          <p:cNvCxnSpPr/>
          <p:nvPr/>
        </p:nvCxnSpPr>
        <p:spPr>
          <a:xfrm>
            <a:off x="1949116" y="2133600"/>
            <a:ext cx="7876924" cy="206720"/>
          </a:xfrm>
          <a:prstGeom prst="straightConnector1">
            <a:avLst/>
          </a:prstGeom>
          <a:noFill/>
          <a:ln cap="flat" cmpd="sng" w="38100">
            <a:solidFill>
              <a:srgbClr val="FF0000"/>
            </a:solidFill>
            <a:prstDash val="solid"/>
            <a:miter lim="800000"/>
            <a:headEnd len="sm" w="sm" type="none"/>
            <a:tailEnd len="med" w="med" type="triangle"/>
          </a:ln>
        </p:spPr>
      </p:cxnSp>
      <p:sp>
        <p:nvSpPr>
          <p:cNvPr id="168" name="Google Shape;168;p12"/>
          <p:cNvSpPr/>
          <p:nvPr/>
        </p:nvSpPr>
        <p:spPr>
          <a:xfrm>
            <a:off x="9970169" y="2133600"/>
            <a:ext cx="1708734" cy="123524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 name="Google Shape;169;p12"/>
          <p:cNvSpPr txBox="1"/>
          <p:nvPr/>
        </p:nvSpPr>
        <p:spPr>
          <a:xfrm>
            <a:off x="10176762" y="2229852"/>
            <a:ext cx="129554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Word Cloud</a:t>
            </a:r>
            <a:endParaRPr/>
          </a:p>
        </p:txBody>
      </p:sp>
      <p:cxnSp>
        <p:nvCxnSpPr>
          <p:cNvPr id="170" name="Google Shape;170;p12"/>
          <p:cNvCxnSpPr>
            <a:stCxn id="168" idx="2"/>
            <a:endCxn id="165" idx="0"/>
          </p:cNvCxnSpPr>
          <p:nvPr/>
        </p:nvCxnSpPr>
        <p:spPr>
          <a:xfrm>
            <a:off x="10824536" y="3368842"/>
            <a:ext cx="1800" cy="340500"/>
          </a:xfrm>
          <a:prstGeom prst="straightConnector1">
            <a:avLst/>
          </a:prstGeom>
          <a:noFill/>
          <a:ln cap="flat" cmpd="sng" w="38100">
            <a:solidFill>
              <a:srgbClr val="FF0000"/>
            </a:solidFill>
            <a:prstDash val="solid"/>
            <a:miter lim="800000"/>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Interesting Findings and Conclusions</a:t>
            </a:r>
            <a:endParaRPr/>
          </a:p>
        </p:txBody>
      </p:sp>
      <p:sp>
        <p:nvSpPr>
          <p:cNvPr id="176" name="Google Shape;176;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Deliverables</a:t>
            </a:r>
            <a:endParaRPr/>
          </a:p>
        </p:txBody>
      </p:sp>
      <p:sp>
        <p:nvSpPr>
          <p:cNvPr id="182" name="Google Shape;182;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Source Code (either in a .zip directory or a link to a GitHub repo.)</a:t>
            </a:r>
            <a:endParaRPr/>
          </a:p>
          <a:p>
            <a:pPr indent="-228600" lvl="0" marL="228600" rtl="0" algn="l">
              <a:lnSpc>
                <a:spcPct val="90000"/>
              </a:lnSpc>
              <a:spcBef>
                <a:spcPts val="1000"/>
              </a:spcBef>
              <a:spcAft>
                <a:spcPts val="0"/>
              </a:spcAft>
              <a:buClr>
                <a:schemeClr val="dk1"/>
              </a:buClr>
              <a:buSzPts val="2800"/>
              <a:buChar char="•"/>
            </a:pPr>
            <a:r>
              <a:rPr lang="en-US"/>
              <a:t>Video Demo (at most 3-4 minutes, with captions or voice over)</a:t>
            </a:r>
            <a:endParaRPr/>
          </a:p>
          <a:p>
            <a:pPr indent="-228600" lvl="0" marL="228600" rtl="0" algn="l">
              <a:lnSpc>
                <a:spcPct val="90000"/>
              </a:lnSpc>
              <a:spcBef>
                <a:spcPts val="1000"/>
              </a:spcBef>
              <a:spcAft>
                <a:spcPts val="0"/>
              </a:spcAft>
              <a:buClr>
                <a:schemeClr val="dk1"/>
              </a:buClr>
              <a:buSzPts val="2800"/>
              <a:buChar char="•"/>
            </a:pPr>
            <a:r>
              <a:rPr lang="en-US"/>
              <a:t>Project Report (a .pdf file following ACM / IEEE conference format)</a:t>
            </a:r>
            <a:endParaRPr/>
          </a:p>
          <a:p>
            <a:pPr indent="-228600" lvl="0" marL="228600" rtl="0" algn="l">
              <a:lnSpc>
                <a:spcPct val="90000"/>
              </a:lnSpc>
              <a:spcBef>
                <a:spcPts val="1000"/>
              </a:spcBef>
              <a:spcAft>
                <a:spcPts val="0"/>
              </a:spcAft>
              <a:buClr>
                <a:schemeClr val="dk1"/>
              </a:buClr>
              <a:buSzPts val="2800"/>
              <a:buChar char="•"/>
            </a:pPr>
            <a:r>
              <a:rPr lang="en-US"/>
              <a:t>Presentation Slides (a .pptx or .pdf file)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Future Work Extensions</a:t>
            </a:r>
            <a:endParaRPr/>
          </a:p>
        </p:txBody>
      </p:sp>
      <p:sp>
        <p:nvSpPr>
          <p:cNvPr id="188" name="Google Shape;188;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References</a:t>
            </a:r>
            <a:endParaRPr/>
          </a:p>
        </p:txBody>
      </p:sp>
      <p:sp>
        <p:nvSpPr>
          <p:cNvPr id="194" name="Google Shape;194;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47500" lnSpcReduction="20000"/>
          </a:bodyPr>
          <a:lstStyle/>
          <a:p>
            <a:pPr indent="-228600" lvl="0" marL="228600" rtl="0" algn="l">
              <a:lnSpc>
                <a:spcPct val="90000"/>
              </a:lnSpc>
              <a:spcBef>
                <a:spcPts val="0"/>
              </a:spcBef>
              <a:spcAft>
                <a:spcPts val="0"/>
              </a:spcAft>
              <a:buClr>
                <a:srgbClr val="212529"/>
              </a:buClr>
              <a:buSzPct val="100000"/>
              <a:buChar char="•"/>
            </a:pPr>
            <a:r>
              <a:rPr b="0" i="0" lang="en-US">
                <a:solidFill>
                  <a:srgbClr val="212529"/>
                </a:solidFill>
                <a:latin typeface="Arial"/>
                <a:ea typeface="Arial"/>
                <a:cs typeface="Arial"/>
                <a:sym typeface="Arial"/>
              </a:rPr>
              <a:t>James Abello, Haoyang Zhang, Daniel Nakhimovich, Chengguizi Han, and Mridul Aanjaneya. 2022. Giga Graph Cities: Their Buckets, Buildings, Waves, and Fragments. </a:t>
            </a:r>
            <a:r>
              <a:rPr b="0" i="1" lang="en-US">
                <a:solidFill>
                  <a:srgbClr val="212529"/>
                </a:solidFill>
                <a:latin typeface="Arial"/>
                <a:ea typeface="Arial"/>
                <a:cs typeface="Arial"/>
                <a:sym typeface="Arial"/>
              </a:rPr>
              <a:t>IEEE Computer Graphics and Applications</a:t>
            </a:r>
            <a:r>
              <a:rPr b="0" i="0" lang="en-US">
                <a:solidFill>
                  <a:srgbClr val="212529"/>
                </a:solidFill>
                <a:latin typeface="Arial"/>
                <a:ea typeface="Arial"/>
                <a:cs typeface="Arial"/>
                <a:sym typeface="Arial"/>
              </a:rPr>
              <a:t> 42, 3 (2022), 53–64. DOI:</a:t>
            </a:r>
            <a:r>
              <a:rPr b="0" i="0" lang="en-US" u="sng">
                <a:solidFill>
                  <a:srgbClr val="0D6EFD"/>
                </a:solidFill>
                <a:latin typeface="Arial"/>
                <a:ea typeface="Arial"/>
                <a:cs typeface="Arial"/>
                <a:sym typeface="Arial"/>
                <a:hlinkClick r:id="rId3">
                  <a:extLst>
                    <a:ext uri="{A12FA001-AC4F-418D-AE19-62706E023703}">
                      <ahyp:hlinkClr val="tx"/>
                    </a:ext>
                  </a:extLst>
                </a:hlinkClick>
              </a:rPr>
              <a:t>https://doi.org/10.1109/MCG.2022.3172650</a:t>
            </a:r>
            <a:endParaRPr b="0" i="0" u="sng">
              <a:solidFill>
                <a:srgbClr val="0D6EFD"/>
              </a:solidFill>
              <a:latin typeface="Arial"/>
              <a:ea typeface="Arial"/>
              <a:cs typeface="Arial"/>
              <a:sym typeface="Arial"/>
            </a:endParaRPr>
          </a:p>
          <a:p>
            <a:pPr indent="-228600" lvl="0" marL="228600" rtl="0" algn="l">
              <a:lnSpc>
                <a:spcPct val="90000"/>
              </a:lnSpc>
              <a:spcBef>
                <a:spcPts val="1000"/>
              </a:spcBef>
              <a:spcAft>
                <a:spcPts val="0"/>
              </a:spcAft>
              <a:buClr>
                <a:srgbClr val="212529"/>
              </a:buClr>
              <a:buSzPct val="100000"/>
              <a:buChar char="•"/>
            </a:pPr>
            <a:r>
              <a:rPr b="0" i="0" lang="en-US">
                <a:solidFill>
                  <a:srgbClr val="212529"/>
                </a:solidFill>
                <a:latin typeface="Arial"/>
                <a:ea typeface="Arial"/>
                <a:cs typeface="Arial"/>
                <a:sym typeface="Arial"/>
              </a:rPr>
              <a:t>Weihua Hu, Matthias Fey, Marinka Zitnik, Yuxiao Dong, Hongyu Ren, Bowen Liu, Michele Catasta, and Jure Leskovec. 2020. Open Graph Benchmark: Datasets for Machine Learning on Graphs. </a:t>
            </a:r>
            <a:r>
              <a:rPr b="0" i="1" lang="en-US">
                <a:solidFill>
                  <a:srgbClr val="212529"/>
                </a:solidFill>
                <a:latin typeface="Arial"/>
                <a:ea typeface="Arial"/>
                <a:cs typeface="Arial"/>
                <a:sym typeface="Arial"/>
              </a:rPr>
              <a:t>arXiv preprint arXiv:2005.00687</a:t>
            </a:r>
            <a:r>
              <a:rPr b="0" i="0" lang="en-US">
                <a:solidFill>
                  <a:srgbClr val="212529"/>
                </a:solidFill>
                <a:latin typeface="Arial"/>
                <a:ea typeface="Arial"/>
                <a:cs typeface="Arial"/>
                <a:sym typeface="Arial"/>
              </a:rPr>
              <a:t> (2020).</a:t>
            </a:r>
            <a:endParaRPr u="sng">
              <a:solidFill>
                <a:srgbClr val="0D6EFD"/>
              </a:solidFill>
              <a:latin typeface="Arial"/>
              <a:ea typeface="Arial"/>
              <a:cs typeface="Arial"/>
              <a:sym typeface="Arial"/>
            </a:endParaRPr>
          </a:p>
          <a:p>
            <a:pPr indent="-228600" lvl="0" marL="228600" rtl="0" algn="l">
              <a:lnSpc>
                <a:spcPct val="90000"/>
              </a:lnSpc>
              <a:spcBef>
                <a:spcPts val="1000"/>
              </a:spcBef>
              <a:spcAft>
                <a:spcPts val="0"/>
              </a:spcAft>
              <a:buClr>
                <a:schemeClr val="dk1"/>
              </a:buClr>
              <a:buSzPct val="100000"/>
              <a:buChar char="•"/>
            </a:pPr>
            <a:r>
              <a:rPr lang="en-US"/>
              <a:t>Bird, Steven, Edward Loper and Ewan Klein (2009). Natural Language Processing with Python.  O'Reilly Media Inc.</a:t>
            </a:r>
            <a:endParaRPr/>
          </a:p>
          <a:p>
            <a:pPr indent="-228600" lvl="0" marL="228600" rtl="0" algn="l">
              <a:lnSpc>
                <a:spcPct val="90000"/>
              </a:lnSpc>
              <a:spcBef>
                <a:spcPts val="1000"/>
              </a:spcBef>
              <a:spcAft>
                <a:spcPts val="0"/>
              </a:spcAft>
              <a:buClr>
                <a:srgbClr val="212529"/>
              </a:buClr>
              <a:buSzPct val="100000"/>
              <a:buChar char="•"/>
            </a:pPr>
            <a:r>
              <a:rPr b="0" i="0" lang="en-US">
                <a:solidFill>
                  <a:srgbClr val="212529"/>
                </a:solidFill>
                <a:latin typeface="Arial"/>
                <a:ea typeface="Arial"/>
                <a:cs typeface="Arial"/>
                <a:sym typeface="Arial"/>
              </a:rPr>
              <a:t>Matthew Honnibal and Ines Montani. 2017. spaCy 2: Natural language understanding with Bloom embeddings, convolutional neural networks and incremental parsing.</a:t>
            </a:r>
            <a:endParaRPr/>
          </a:p>
          <a:p>
            <a:pPr indent="-228600" lvl="0" marL="228600" rtl="0" algn="l">
              <a:lnSpc>
                <a:spcPct val="90000"/>
              </a:lnSpc>
              <a:spcBef>
                <a:spcPts val="1000"/>
              </a:spcBef>
              <a:spcAft>
                <a:spcPts val="0"/>
              </a:spcAft>
              <a:buClr>
                <a:srgbClr val="212529"/>
              </a:buClr>
              <a:buSzPct val="100000"/>
              <a:buChar char="•"/>
            </a:pPr>
            <a:r>
              <a:rPr b="0" i="0" lang="en-US">
                <a:solidFill>
                  <a:srgbClr val="212529"/>
                </a:solidFill>
                <a:latin typeface="Arial"/>
                <a:ea typeface="Arial"/>
                <a:cs typeface="Arial"/>
                <a:sym typeface="Arial"/>
              </a:rPr>
              <a:t>Charles R. Harris, K. Jarrod Millman, Stéfan J van der Walt, Ralf Gommers, Pauli Virtanen, David Cournapeau, Eric Wieser, Julian Taylor, Sebastian Berg, Nathaniel J. Smith, Robert Kern, Matti Picus, Stephan Hoyer, Marten H. van Kerkwijk, Matthew Brett, Allan Haldane, Jaime Fernández del Río, Mark Wiebe, Pearu Peterson, Pierre Gérard-Marchant, Kevin Sheppard, Tyler Reddy, Warren Weckesser, Hameer Abbasi, Christoph Gohlke, and Travis E. Oliphant. 2020. Array programming with NumPy. </a:t>
            </a:r>
            <a:r>
              <a:rPr b="0" i="1" lang="en-US">
                <a:solidFill>
                  <a:srgbClr val="212529"/>
                </a:solidFill>
                <a:latin typeface="Arial"/>
                <a:ea typeface="Arial"/>
                <a:cs typeface="Arial"/>
                <a:sym typeface="Arial"/>
              </a:rPr>
              <a:t>Nature</a:t>
            </a:r>
            <a:r>
              <a:rPr b="0" i="0" lang="en-US">
                <a:solidFill>
                  <a:srgbClr val="212529"/>
                </a:solidFill>
                <a:latin typeface="Arial"/>
                <a:ea typeface="Arial"/>
                <a:cs typeface="Arial"/>
                <a:sym typeface="Arial"/>
              </a:rPr>
              <a:t> 585, (2020), 357–362. DOI:</a:t>
            </a:r>
            <a:r>
              <a:rPr b="0" i="0" lang="en-US" u="sng">
                <a:solidFill>
                  <a:srgbClr val="0D6EFD"/>
                </a:solidFill>
                <a:latin typeface="Arial"/>
                <a:ea typeface="Arial"/>
                <a:cs typeface="Arial"/>
                <a:sym typeface="Arial"/>
                <a:hlinkClick r:id="rId4">
                  <a:extLst>
                    <a:ext uri="{A12FA001-AC4F-418D-AE19-62706E023703}">
                      <ahyp:hlinkClr val="tx"/>
                    </a:ext>
                  </a:extLst>
                </a:hlinkClick>
              </a:rPr>
              <a:t>https://doi.org/10.1038/s41586-020-2649-2</a:t>
            </a:r>
            <a:endParaRPr b="0" i="0" u="sng">
              <a:solidFill>
                <a:srgbClr val="0D6EFD"/>
              </a:solidFill>
              <a:latin typeface="Arial"/>
              <a:ea typeface="Arial"/>
              <a:cs typeface="Arial"/>
              <a:sym typeface="Arial"/>
            </a:endParaRPr>
          </a:p>
          <a:p>
            <a:pPr indent="-228600" lvl="0" marL="228600" rtl="0" algn="l">
              <a:lnSpc>
                <a:spcPct val="90000"/>
              </a:lnSpc>
              <a:spcBef>
                <a:spcPts val="1000"/>
              </a:spcBef>
              <a:spcAft>
                <a:spcPts val="0"/>
              </a:spcAft>
              <a:buClr>
                <a:srgbClr val="212529"/>
              </a:buClr>
              <a:buSzPct val="100000"/>
              <a:buChar char="•"/>
            </a:pPr>
            <a:r>
              <a:rPr b="0" i="0" lang="en-US">
                <a:solidFill>
                  <a:srgbClr val="212529"/>
                </a:solidFill>
                <a:latin typeface="Arial"/>
                <a:ea typeface="Arial"/>
                <a:cs typeface="Arial"/>
                <a:sym typeface="Arial"/>
              </a:rPr>
              <a:t>Pauli Virtanen, Ralf Gommers, Travis E. Oliphant, Matt Haberland, Tyler Reddy, David Cournapeau, Evgeni Burovski, Pearu Peterson, Warren Weckesser, Jonathan Bright, Stéfan J. van der Walt, Matthew Brett, Joshua Wilson, K. Jarrod Millman, Nikolay Mayorov, Andrew R. J. Nelson, Eric Jones, Robert Kern, Eric Larson, C J Carey, İlhan Polat, Yu Feng, Eric W. Moore, Jake VanderPlas, Denis Laxalde, Josef Perktold, Robert Cimrman, Ian Henriksen, E. A. Quintero, Charles R. Harris, Anne M. Archibald, Antônio H. Ribeiro, Fabian Pedregosa, Paul van Mulbregt, and SciPy 1.0 Contributors. 2020. SciPy 1.0: Fundamental Algorithms for Scientific Computing in Python. </a:t>
            </a:r>
            <a:r>
              <a:rPr b="0" i="1" lang="en-US">
                <a:solidFill>
                  <a:srgbClr val="212529"/>
                </a:solidFill>
                <a:latin typeface="Arial"/>
                <a:ea typeface="Arial"/>
                <a:cs typeface="Arial"/>
                <a:sym typeface="Arial"/>
              </a:rPr>
              <a:t>Nature Methods</a:t>
            </a:r>
            <a:r>
              <a:rPr b="0" i="0" lang="en-US">
                <a:solidFill>
                  <a:srgbClr val="212529"/>
                </a:solidFill>
                <a:latin typeface="Arial"/>
                <a:ea typeface="Arial"/>
                <a:cs typeface="Arial"/>
                <a:sym typeface="Arial"/>
              </a:rPr>
              <a:t> 17, (2020), 261–272. DOI:</a:t>
            </a:r>
            <a:r>
              <a:rPr b="0" i="0" lang="en-US" u="sng">
                <a:solidFill>
                  <a:srgbClr val="0D6EFD"/>
                </a:solidFill>
                <a:latin typeface="Arial"/>
                <a:ea typeface="Arial"/>
                <a:cs typeface="Arial"/>
                <a:sym typeface="Arial"/>
                <a:hlinkClick r:id="rId5">
                  <a:extLst>
                    <a:ext uri="{A12FA001-AC4F-418D-AE19-62706E023703}">
                      <ahyp:hlinkClr val="tx"/>
                    </a:ext>
                  </a:extLst>
                </a:hlinkClick>
              </a:rPr>
              <a:t>https://doi.org/10.1038/s41592-019-0686-2</a:t>
            </a:r>
            <a:endParaRPr b="0" i="0" u="sng">
              <a:solidFill>
                <a:srgbClr val="0D6EFD"/>
              </a:solidFill>
              <a:latin typeface="Arial"/>
              <a:ea typeface="Arial"/>
              <a:cs typeface="Arial"/>
              <a:sym typeface="Arial"/>
            </a:endParaRPr>
          </a:p>
          <a:p>
            <a:pPr indent="-228600" lvl="0" marL="228600" rtl="0" algn="l">
              <a:lnSpc>
                <a:spcPct val="90000"/>
              </a:lnSpc>
              <a:spcBef>
                <a:spcPts val="1000"/>
              </a:spcBef>
              <a:spcAft>
                <a:spcPts val="0"/>
              </a:spcAft>
              <a:buClr>
                <a:srgbClr val="212529"/>
              </a:buClr>
              <a:buSzPct val="100000"/>
              <a:buChar char="•"/>
            </a:pPr>
            <a:r>
              <a:rPr b="0" i="0" lang="en-US">
                <a:solidFill>
                  <a:srgbClr val="212529"/>
                </a:solidFill>
                <a:latin typeface="Arial"/>
                <a:ea typeface="Arial"/>
                <a:cs typeface="Arial"/>
                <a:sym typeface="Arial"/>
              </a:rPr>
              <a:t>Aric Hagberg, Pieter Swart, and Daniel S Chult. 2008. </a:t>
            </a:r>
            <a:r>
              <a:rPr b="0" i="1" lang="en-US">
                <a:solidFill>
                  <a:srgbClr val="212529"/>
                </a:solidFill>
                <a:latin typeface="Arial"/>
                <a:ea typeface="Arial"/>
                <a:cs typeface="Arial"/>
                <a:sym typeface="Arial"/>
              </a:rPr>
              <a:t>Exploring network structure, dynamics, and function using NetworkX</a:t>
            </a:r>
            <a:r>
              <a:rPr b="0" i="0" lang="en-US">
                <a:solidFill>
                  <a:srgbClr val="212529"/>
                </a:solidFill>
                <a:latin typeface="Arial"/>
                <a:ea typeface="Arial"/>
                <a:cs typeface="Arial"/>
                <a:sym typeface="Arial"/>
              </a:rPr>
              <a:t>. Los Alamos National Lab.(LANL), Los Alamos, NM (United States).</a:t>
            </a:r>
            <a:endParaRPr/>
          </a:p>
          <a:p>
            <a:pPr indent="-228600" lvl="0" marL="228600" rtl="0" algn="l">
              <a:lnSpc>
                <a:spcPct val="90000"/>
              </a:lnSpc>
              <a:spcBef>
                <a:spcPts val="1000"/>
              </a:spcBef>
              <a:spcAft>
                <a:spcPts val="0"/>
              </a:spcAft>
              <a:buClr>
                <a:srgbClr val="212529"/>
              </a:buClr>
              <a:buSzPct val="100000"/>
              <a:buChar char="•"/>
            </a:pPr>
            <a:r>
              <a:rPr b="0" i="0" lang="en-US">
                <a:solidFill>
                  <a:srgbClr val="212529"/>
                </a:solidFill>
                <a:latin typeface="Arial"/>
                <a:ea typeface="Arial"/>
                <a:cs typeface="Arial"/>
                <a:sym typeface="Arial"/>
              </a:rPr>
              <a:t>Wes McKinney and others. 2010. Data structures for statistical computing in python. In </a:t>
            </a:r>
            <a:r>
              <a:rPr b="0" i="1" lang="en-US">
                <a:solidFill>
                  <a:srgbClr val="212529"/>
                </a:solidFill>
                <a:latin typeface="Arial"/>
                <a:ea typeface="Arial"/>
                <a:cs typeface="Arial"/>
                <a:sym typeface="Arial"/>
              </a:rPr>
              <a:t>Proceedings of the 9th Python in Science Conference</a:t>
            </a:r>
            <a:r>
              <a:rPr b="0" i="0" lang="en-US">
                <a:solidFill>
                  <a:srgbClr val="212529"/>
                </a:solidFill>
                <a:latin typeface="Arial"/>
                <a:ea typeface="Arial"/>
                <a:cs typeface="Arial"/>
                <a:sym typeface="Arial"/>
              </a:rPr>
              <a:t>, Austin, TX, 51–56.</a:t>
            </a:r>
            <a:endParaRPr/>
          </a:p>
          <a:p>
            <a:pPr indent="-228600" lvl="0" marL="228600" rtl="0" algn="l">
              <a:lnSpc>
                <a:spcPct val="90000"/>
              </a:lnSpc>
              <a:spcBef>
                <a:spcPts val="1000"/>
              </a:spcBef>
              <a:spcAft>
                <a:spcPts val="0"/>
              </a:spcAft>
              <a:buClr>
                <a:srgbClr val="212529"/>
              </a:buClr>
              <a:buSzPct val="100000"/>
              <a:buChar char="•"/>
            </a:pPr>
            <a:r>
              <a:rPr b="0" i="0" lang="en-US">
                <a:solidFill>
                  <a:srgbClr val="212529"/>
                </a:solidFill>
                <a:latin typeface="Arial"/>
                <a:ea typeface="Arial"/>
                <a:cs typeface="Arial"/>
                <a:sym typeface="Arial"/>
              </a:rPr>
              <a:t>Fabian Pedregosa, Gaël Varoquaux, Alexandre Gramfort, Vincent Michel, Bertrand Thirion, Olivier Grisel, Mathieu Blondel, Peter Prettenhofer, Ron Weiss, Vincent Dubourg, and others. 2011. Scikit-learn: Machine learning in Python. </a:t>
            </a:r>
            <a:r>
              <a:rPr b="0" i="1" lang="en-US">
                <a:solidFill>
                  <a:srgbClr val="212529"/>
                </a:solidFill>
                <a:latin typeface="Arial"/>
                <a:ea typeface="Arial"/>
                <a:cs typeface="Arial"/>
                <a:sym typeface="Arial"/>
              </a:rPr>
              <a:t>Journal of machine learning research</a:t>
            </a:r>
            <a:r>
              <a:rPr b="0" i="0" lang="en-US">
                <a:solidFill>
                  <a:srgbClr val="212529"/>
                </a:solidFill>
                <a:latin typeface="Arial"/>
                <a:ea typeface="Arial"/>
                <a:cs typeface="Arial"/>
                <a:sym typeface="Arial"/>
              </a:rPr>
              <a:t> 12, Oct (2011), 2825–2830.</a:t>
            </a:r>
            <a:endParaRPr/>
          </a:p>
          <a:p>
            <a:pPr indent="-228600" lvl="0" marL="228600" rtl="0" algn="l">
              <a:lnSpc>
                <a:spcPct val="90000"/>
              </a:lnSpc>
              <a:spcBef>
                <a:spcPts val="1000"/>
              </a:spcBef>
              <a:spcAft>
                <a:spcPts val="0"/>
              </a:spcAft>
              <a:buClr>
                <a:srgbClr val="212529"/>
              </a:buClr>
              <a:buSzPct val="100000"/>
              <a:buChar char="•"/>
            </a:pPr>
            <a:r>
              <a:rPr b="0" i="0" lang="en-US">
                <a:solidFill>
                  <a:srgbClr val="212529"/>
                </a:solidFill>
                <a:latin typeface="Arial"/>
                <a:ea typeface="Arial"/>
                <a:cs typeface="Arial"/>
                <a:sym typeface="Arial"/>
              </a:rPr>
              <a:t>Matei Zaharia, Reynold S Xin, Patrick Wendell, Tathagata Das, Michael Armbrust, Ankur Dave, Xiangrui Meng, Josh Rosen, Shivaram Venkataraman, Michael J Franklin, and others. 2016. Apache spark: a unified engine for big data processing. </a:t>
            </a:r>
            <a:r>
              <a:rPr b="0" i="1" lang="en-US">
                <a:solidFill>
                  <a:srgbClr val="212529"/>
                </a:solidFill>
                <a:latin typeface="Arial"/>
                <a:ea typeface="Arial"/>
                <a:cs typeface="Arial"/>
                <a:sym typeface="Arial"/>
              </a:rPr>
              <a:t>Communications of the ACM</a:t>
            </a:r>
            <a:r>
              <a:rPr b="0" i="0" lang="en-US">
                <a:solidFill>
                  <a:srgbClr val="212529"/>
                </a:solidFill>
                <a:latin typeface="Arial"/>
                <a:ea typeface="Arial"/>
                <a:cs typeface="Arial"/>
                <a:sym typeface="Arial"/>
              </a:rPr>
              <a:t> 59, 11 (2016), 56–65.</a:t>
            </a:r>
            <a:endParaRPr>
              <a:solidFill>
                <a:srgbClr val="212529"/>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2025-10-31T21:14:14Z</dcterms:created>
  <dc:creator>Haoyang Zhang</dc:creator>
</cp:coreProperties>
</file>